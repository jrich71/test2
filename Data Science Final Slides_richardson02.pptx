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228600" algn="ctr">
              <a:spcBef>
                <a:spcPts val="0"/>
              </a:spcBef>
              <a:buSzTx/>
              <a:buNone/>
              <a:defRPr sz="3700"/>
            </a:lvl2pPr>
            <a:lvl3pPr marL="0" indent="457200" algn="ctr">
              <a:spcBef>
                <a:spcPts val="0"/>
              </a:spcBef>
              <a:buSzTx/>
              <a:buNone/>
              <a:defRPr sz="3700"/>
            </a:lvl3pPr>
            <a:lvl4pPr marL="0" indent="685800" algn="ctr">
              <a:spcBef>
                <a:spcPts val="0"/>
              </a:spcBef>
              <a:buSzTx/>
              <a:buNone/>
              <a:defRPr sz="3700"/>
            </a:lvl4pPr>
            <a:lvl5pPr marL="0" indent="91440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Data Scienc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Science</a:t>
            </a:r>
          </a:p>
        </p:txBody>
      </p:sp>
      <p:sp>
        <p:nvSpPr>
          <p:cNvPr id="120" name="Joshua Richardson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Joshua Richardson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Background and Purpo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1622">
              <a:defRPr sz="7280"/>
            </a:lvl1pPr>
          </a:lstStyle>
          <a:p>
            <a:pPr/>
            <a:r>
              <a:t>Background and Purpose</a:t>
            </a:r>
          </a:p>
        </p:txBody>
      </p:sp>
      <p:sp>
        <p:nvSpPr>
          <p:cNvPr id="123" name="The problem is that community-based medicine doesn’t always provide evidence-based care. This project intends to improve community-based care through practice transformation and I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22275" indent="-422275" defTabSz="554990">
              <a:spcBef>
                <a:spcPts val="3900"/>
              </a:spcBef>
              <a:defRPr sz="3040"/>
            </a:pPr>
            <a:r>
              <a:rPr b="1"/>
              <a:t>The problem</a:t>
            </a:r>
            <a:r>
              <a:t> is that community-based medicine doesn’t always provide evidence-based care. This project intends to improve community-based care through practice transformation and IT.</a:t>
            </a:r>
          </a:p>
          <a:p>
            <a:pPr marL="422275" indent="-422275" defTabSz="554990">
              <a:spcBef>
                <a:spcPts val="3900"/>
              </a:spcBef>
              <a:defRPr sz="3040"/>
            </a:pPr>
            <a:r>
              <a:rPr b="1"/>
              <a:t>Few data</a:t>
            </a:r>
            <a:r>
              <a:t> (at a system level) exist to explain or solve this problem. These unique data represent system-wide clinics that were randomized to receive practice transformation with IT against clinics that received practice transformation only.</a:t>
            </a:r>
          </a:p>
          <a:p>
            <a:pPr marL="422275" indent="-422275" defTabSz="554990">
              <a:spcBef>
                <a:spcPts val="3900"/>
              </a:spcBef>
              <a:defRPr sz="3040"/>
            </a:pPr>
            <a:r>
              <a:rPr b="1"/>
              <a:t>The hypothesis</a:t>
            </a:r>
            <a:r>
              <a:t> is that clinics that receive practice transformation with IT perform better than clinics that receive practice transformation only, over time.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roject Design Writeu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Project Design Writeup</a:t>
            </a:r>
          </a:p>
        </p:txBody>
      </p:sp>
      <p:sp>
        <p:nvSpPr>
          <p:cNvPr id="126" name="Hypothesis is, clinics that receive practice transformation with IT perform better than those that receive transformation only, over time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/>
              <a:t>Hypothesis</a:t>
            </a:r>
            <a:r>
              <a:t> is, clinics that receive practice transformation with IT perform better than those that receive transformation only, over time.</a:t>
            </a:r>
          </a:p>
          <a:p>
            <a:pPr/>
            <a:r>
              <a:rPr b="1"/>
              <a:t>Describe</a:t>
            </a:r>
            <a:r>
              <a:t> if results differ by patient condition (n=4).</a:t>
            </a:r>
          </a:p>
          <a:p>
            <a:pPr/>
            <a:r>
              <a:rPr b="1"/>
              <a:t>Specific features</a:t>
            </a:r>
            <a:r>
              <a:t> include that there are different measures for across conditions (n=6).</a:t>
            </a:r>
          </a:p>
          <a:p>
            <a:pPr/>
            <a:r>
              <a:rPr b="1"/>
              <a:t>Goals and criteria</a:t>
            </a:r>
            <a:r>
              <a:t> are to authoritatively report that any differences (or not) are associated with the intervention.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Data Dictiona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Dictionary</a:t>
            </a:r>
          </a:p>
        </p:txBody>
      </p:sp>
      <p:pic>
        <p:nvPicPr>
          <p:cNvPr id="129" name="Screen Shot 2017-09-05 at 6.32.39 PM.png" descr="Screen Shot 2017-09-05 at 6.32.3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9515" y="3041510"/>
            <a:ext cx="11495294" cy="40300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Overall Dat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Overall Data</a:t>
            </a:r>
          </a:p>
        </p:txBody>
      </p:sp>
      <p:pic>
        <p:nvPicPr>
          <p:cNvPr id="132" name="Screen Shot 2017-09-05 at 6.34.33 PM.png" descr="Screen Shot 2017-09-05 at 6.34.3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8650" y="2705100"/>
            <a:ext cx="11747500" cy="3505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omparison Group 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Comparison Group N</a:t>
            </a:r>
          </a:p>
        </p:txBody>
      </p:sp>
      <p:pic>
        <p:nvPicPr>
          <p:cNvPr id="135" name="Screen Shot 2017-09-05 at 6.34.33 PM.png" descr="Screen Shot 2017-09-05 at 6.34.3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8650" y="2705100"/>
            <a:ext cx="11747500" cy="3505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Screen Shot 2017-09-05 at 6.35.28 PM.png" descr="Screen Shot 2017-09-05 at 6.35.28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43643" y="2470149"/>
            <a:ext cx="4822458" cy="1993901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</p:pic>
      <p:sp>
        <p:nvSpPr>
          <p:cNvPr id="137" name="Line"/>
          <p:cNvSpPr/>
          <p:nvPr/>
        </p:nvSpPr>
        <p:spPr>
          <a:xfrm flipV="1">
            <a:off x="2108200" y="3100337"/>
            <a:ext cx="1125786" cy="18896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Intervention had higher sprea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Intervention had higher spread</a:t>
            </a:r>
          </a:p>
        </p:txBody>
      </p:sp>
      <p:pic>
        <p:nvPicPr>
          <p:cNvPr id="140" name="Screen Shot 2017-09-05 at 6.37.14 PM.png" descr="Screen Shot 2017-09-05 at 6.37.1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3800" y="2705100"/>
            <a:ext cx="7756958" cy="53064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al: Compare Result (performance) over tim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Goal: Compare Result (performance) over time</a:t>
            </a:r>
          </a:p>
        </p:txBody>
      </p:sp>
      <p:pic>
        <p:nvPicPr>
          <p:cNvPr id="143" name="Screen Shot 2017-09-05 at 6.38.12 PM.png" descr="Screen Shot 2017-09-05 at 6.38.1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43057" y="2948230"/>
            <a:ext cx="10285443" cy="52795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46" name="Screen Shot 2017-09-05 at 6.39.31 PM.png" descr="Screen Shot 2017-09-05 at 6.39.3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30488" y="2559941"/>
            <a:ext cx="4743824" cy="58093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ompare all control (A) practices against themselv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defRPr sz="6400"/>
            </a:lvl1pPr>
          </a:lstStyle>
          <a:p>
            <a:pPr/>
            <a:r>
              <a:t>Compare all control (A) practices against themselves</a:t>
            </a:r>
          </a:p>
        </p:txBody>
      </p:sp>
      <p:pic>
        <p:nvPicPr>
          <p:cNvPr id="149" name="Screen Shot 2017-09-05 at 6.40.49 PM.png" descr="Screen Shot 2017-09-05 at 6.40.4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82850" y="2457450"/>
            <a:ext cx="8661400" cy="6565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ompare all intervention (B) practices against themselv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67359">
              <a:defRPr sz="6400"/>
            </a:lvl1pPr>
          </a:lstStyle>
          <a:p>
            <a:pPr/>
            <a:r>
              <a:t>Compare all intervention (B) practices against themselves</a:t>
            </a:r>
          </a:p>
        </p:txBody>
      </p:sp>
      <p:pic>
        <p:nvPicPr>
          <p:cNvPr id="152" name="Screen Shot 2017-09-05 at 6.40.49 PM.png" descr="Screen Shot 2017-09-05 at 6.40.4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82850" y="2457450"/>
            <a:ext cx="8661400" cy="656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Screen Shot 2017-09-05 at 6.42.00 PM.png" descr="Screen Shot 2017-09-05 at 6.42.00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08250" y="2514600"/>
            <a:ext cx="8610600" cy="6451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omparing paired t-tests across 3 condi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Comparing paired t-tests across 3 conditions</a:t>
            </a:r>
          </a:p>
        </p:txBody>
      </p:sp>
      <p:graphicFrame>
        <p:nvGraphicFramePr>
          <p:cNvPr id="156" name="Table"/>
          <p:cNvGraphicFramePr/>
          <p:nvPr/>
        </p:nvGraphicFramePr>
        <p:xfrm>
          <a:off x="952500" y="2590800"/>
          <a:ext cx="11099800" cy="62865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774950"/>
                <a:gridCol w="2774950"/>
                <a:gridCol w="2774950"/>
                <a:gridCol w="2774950"/>
              </a:tblGrid>
              <a:tr h="157162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Helvetica Neue"/>
                        </a:rPr>
                        <a:t>Condition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Helvetica Neue"/>
                        </a:rPr>
                        <a:t>Control (A)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Helvetica Neue"/>
                        </a:rPr>
                        <a:t>Intervention (B)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Helvetica Neue"/>
                        </a:rPr>
                        <a:t>&lt;.01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57162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Helvetica Neue"/>
                        </a:rPr>
                        <a:t>K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ts val="2800"/>
                        </a:lnSpc>
                        <a:defRPr sz="1800"/>
                      </a:pPr>
                      <a:r>
                        <a:rPr sz="12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0.005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ts val="2800"/>
                        </a:lnSpc>
                        <a:defRPr sz="1800"/>
                      </a:pPr>
                      <a:r>
                        <a:rPr sz="12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1.143E-11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Helvetica Neue"/>
                        </a:rPr>
                        <a:t>Y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57162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Helvetica Neue"/>
                        </a:rPr>
                        <a:t>L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ts val="2800"/>
                        </a:lnSpc>
                        <a:defRPr sz="1800"/>
                      </a:pPr>
                      <a:r>
                        <a:rPr sz="12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1.68E-35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ts val="2800"/>
                        </a:lnSpc>
                        <a:defRPr sz="1800"/>
                      </a:pPr>
                      <a:r>
                        <a:rPr sz="12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1.391E-47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Helvetica Neue"/>
                        </a:rPr>
                        <a:t>Y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57162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Helvetica Neue"/>
                        </a:rPr>
                        <a:t>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ts val="2800"/>
                        </a:lnSpc>
                        <a:defRPr sz="1800"/>
                      </a:pPr>
                      <a:r>
                        <a:rPr sz="12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9.8579E-24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lnSpc>
                          <a:spcPts val="2800"/>
                        </a:lnSpc>
                        <a:defRPr sz="1800"/>
                      </a:pPr>
                      <a:r>
                        <a:rPr sz="12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2.16E-10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>
                          <a:sym typeface="Helvetica Neue"/>
                        </a:rPr>
                        <a:t>Y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ukey’s HSD Te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Tukey’s HSD Test</a:t>
            </a:r>
          </a:p>
        </p:txBody>
      </p:sp>
      <p:pic>
        <p:nvPicPr>
          <p:cNvPr id="159" name="Screen Shot 2017-09-05 at 6.49.25 PM.png" descr="Screen Shot 2017-09-05 at 6.49.2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2350" y="1952299"/>
            <a:ext cx="5860100" cy="584900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sp>
        <p:nvSpPr>
          <p:cNvPr id="160" name="No significant difference in means across practices and conditions between groups (???)"/>
          <p:cNvSpPr txBox="1"/>
          <p:nvPr/>
        </p:nvSpPr>
        <p:spPr>
          <a:xfrm>
            <a:off x="1394835" y="7803489"/>
            <a:ext cx="10215130" cy="1055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spcBef>
                <a:spcPts val="4200"/>
              </a:spcBef>
              <a:defRPr b="0" sz="3200"/>
            </a:lvl1pPr>
          </a:lstStyle>
          <a:p>
            <a:pPr/>
            <a:r>
              <a:t>No significant difference in means across practices and conditions between groups (???)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onclu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163" name="There are statiscally significant differences (p-value &lt; .001) for 3 conditions (K, L, N), and therefore I reject the null hypothesis and accept the alternative for both Control and Internvetion group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There are statiscally significant differences (p-value &lt; .001) for 3 conditions (K, L, N), and therefore I reject the null hypothesis and accept the alternative for both Control and Internvetion groups.</a:t>
            </a:r>
          </a:p>
          <a:p>
            <a:pPr/>
          </a:p>
          <a:p>
            <a:pPr/>
            <a:r>
              <a:t>However the Intervention group p-value was further away from .001 than the Control group.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